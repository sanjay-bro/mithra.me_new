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9045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645920"/>
            <a:ext cx="7315200" cy="7315200"/>
          </a:xfrm>
          <a:prstGeom prst="ellipse">
            <a:avLst/>
          </a:prstGeom>
          <a:solidFill>
            <a:srgbClr val="2A0A0A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400800" y="365760"/>
            <a:ext cx="4114800" cy="4114800"/>
          </a:xfrm>
          <a:prstGeom prst="ellipse">
            <a:avLst/>
          </a:prstGeom>
          <a:solidFill>
            <a:srgbClr val="B5001F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669280" y="2377440"/>
            <a:ext cx="2194560" cy="2194560"/>
          </a:xfrm>
          <a:prstGeom prst="ellipse">
            <a:avLst/>
          </a:prstGeom>
          <a:solidFill>
            <a:srgbClr val="D4A017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01168"/>
            <a:ext cx="1371600" cy="6766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02336" y="1042416"/>
            <a:ext cx="7315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kern="0" spc="500" dirty="0">
                <a:solidFill>
                  <a:srgbClr val="B500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PVR INOX</a:t>
            </a:r>
            <a:endParaRPr lang="en-US" sz="5800" dirty="0"/>
          </a:p>
        </p:txBody>
      </p:sp>
      <p:sp>
        <p:nvSpPr>
          <p:cNvPr id="8" name="Text 5"/>
          <p:cNvSpPr/>
          <p:nvPr/>
        </p:nvSpPr>
        <p:spPr>
          <a:xfrm>
            <a:off x="402336" y="1792224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LOBBY MARKETING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402336" y="265176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4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India's Most Captive Premium Audience — Right Where They Wait.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02336" y="31638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Lac+ Monthly Audience  •  1,500+ Screens  •  20 States  •  56 Cities  •  43" Lobby Screens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12060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4681728"/>
            <a:ext cx="950976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26464" y="472744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mithrah.me  |  +91 87 9245 9245  |  mithrah.me@gmail.com  |  www.mithrah.me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54864"/>
            <a:ext cx="105156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097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PVR INOX LOBBY MARKETING?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92608" y="859536"/>
            <a:ext cx="4315968" cy="3840480"/>
          </a:xfrm>
          <a:prstGeom prst="rect">
            <a:avLst/>
          </a:prstGeom>
          <a:solidFill>
            <a:srgbClr val="FAE8E8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292608" y="859536"/>
            <a:ext cx="4315968" cy="82296"/>
          </a:xfrm>
          <a:prstGeom prst="rect">
            <a:avLst/>
          </a:prstGeom>
          <a:solidFill>
            <a:srgbClr val="B500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38912" y="9784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🎬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1188720" y="1005840"/>
            <a:ext cx="3246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India's Most Premium</a:t>
            </a:r>
            <a:endParaRPr lang="en-US" sz="1550" dirty="0"/>
          </a:p>
          <a:p>
            <a:pPr marL="0" indent="0">
              <a:buNone/>
            </a:pPr>
            <a:r>
              <a:rPr lang="en-US" sz="155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Captive Audience Medium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457200" y="1920240"/>
            <a:ext cx="400507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PVR INOX Lobby Marketing places your brand on large 43-inch digital display screens positioned strategically inside the lobbies of PVR INOX multiplex cinemas across India.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Moviegoers spend 30 to 35 minutes in the lobby before and during the interval — browsing, buying popcorn, and waiting. Your brand plays on a looping 10-second spot in a 2-minute cycle, reaching a highly engaged, premium urban audience in a distraction-free environment with no skip option.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28032" y="859536"/>
            <a:ext cx="4005072" cy="1170432"/>
          </a:xfrm>
          <a:prstGeom prst="rect">
            <a:avLst/>
          </a:prstGeom>
          <a:solidFill>
            <a:srgbClr val="FBF3DC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828032" y="859536"/>
            <a:ext cx="91440" cy="1170432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4974336" y="9509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📺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5559552" y="950976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43-Inch Lobby Screens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559552" y="1389888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Crystal-clear digital display screens positioned at eye level in high-traffic cinema lobby areas — impossible to ignore.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828032" y="2157984"/>
            <a:ext cx="4005072" cy="1170432"/>
          </a:xfrm>
          <a:prstGeom prst="rect">
            <a:avLst/>
          </a:prstGeom>
          <a:solidFill>
            <a:srgbClr val="FBF3DC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4828032" y="2157984"/>
            <a:ext cx="91440" cy="1170432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4974336" y="22494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⏱️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5559552" y="2249424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10-Sec Spot in 2-Min Loop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559552" y="2688336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ad runs in a 2-minute loop with a 10-second dedicated spot — ensuring repeated, consistent brand exposure all day long.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828032" y="3456432"/>
            <a:ext cx="4005072" cy="1170432"/>
          </a:xfrm>
          <a:prstGeom prst="rect">
            <a:avLst/>
          </a:prstGeom>
          <a:solidFill>
            <a:srgbClr val="FBF3DC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4828032" y="3456432"/>
            <a:ext cx="91440" cy="1170432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4974336" y="35478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5559552" y="354787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 Lac+ Monthly Audience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559552" y="3986784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over 90 lakh premium cinema-goers every month across 185+ PVR INOX properties in 20 states and 56 cities.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mithrah.me  |  +91 87 9245 9245  |  mithrah.me@gmail.com  |  www.mithrah.me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B5001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54864"/>
            <a:ext cx="105156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097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AUDIENCE INSIGHTS  —  Who Watches at PVR INOX?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320040" y="8046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Kantar IMRB Research  |  India's most premium OOH advertising environment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274320" y="1133856"/>
            <a:ext cx="1993392" cy="1417320"/>
          </a:xfrm>
          <a:prstGeom prst="rect">
            <a:avLst/>
          </a:prstGeom>
          <a:solidFill>
            <a:srgbClr val="FAE8E8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274320" y="1133856"/>
            <a:ext cx="1993392" cy="73152"/>
          </a:xfrm>
          <a:prstGeom prst="rect">
            <a:avLst/>
          </a:prstGeom>
          <a:solidFill>
            <a:srgbClr val="B500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74320" y="1261872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500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89%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274320" y="1810512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NCCS A1, A2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(Premium SEC)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450592" y="1133856"/>
            <a:ext cx="1993392" cy="1417320"/>
          </a:xfrm>
          <a:prstGeom prst="rect">
            <a:avLst/>
          </a:prstGeom>
          <a:solidFill>
            <a:srgbClr val="FBF3DC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2450592" y="1133856"/>
            <a:ext cx="1993392" cy="73152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2450592" y="1261872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79%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2450592" y="1810512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34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Age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626864" y="1133856"/>
            <a:ext cx="1993392" cy="1417320"/>
          </a:xfrm>
          <a:prstGeom prst="rect">
            <a:avLst/>
          </a:prstGeom>
          <a:solidFill>
            <a:srgbClr val="E8EEF5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4626864" y="1133856"/>
            <a:ext cx="1993392" cy="73152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626864" y="1261872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₹348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4626864" y="1810512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 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+ F&amp;B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803136" y="1133856"/>
            <a:ext cx="1993392" cy="1417320"/>
          </a:xfrm>
          <a:prstGeom prst="rect">
            <a:avLst/>
          </a:prstGeom>
          <a:solidFill>
            <a:srgbClr val="F0EAF8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6803136" y="1133856"/>
            <a:ext cx="1993392" cy="73152"/>
          </a:xfrm>
          <a:prstGeom prst="rect">
            <a:avLst/>
          </a:prstGeom>
          <a:solidFill>
            <a:srgbClr val="5B3A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6803136" y="1261872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B3A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2.31×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6803136" y="1810512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Movie Visits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274320" y="2670048"/>
            <a:ext cx="4206240" cy="1005840"/>
          </a:xfrm>
          <a:prstGeom prst="rect">
            <a:avLst/>
          </a:prstGeom>
          <a:solidFill>
            <a:srgbClr val="FAE8E8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274320" y="2670048"/>
            <a:ext cx="91440" cy="1005840"/>
          </a:xfrm>
          <a:prstGeom prst="rect">
            <a:avLst/>
          </a:prstGeom>
          <a:solidFill>
            <a:srgbClr val="B500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438912" y="2743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👁️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987552" y="272491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49% Watch Movie Posters &amp; Ads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38912" y="3090672"/>
            <a:ext cx="3913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half of all cinema-goers actively notice and engage with in-lobby advertising — a uniquely attentive audience unavailable in any other OOH format.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736592" y="2670048"/>
            <a:ext cx="4206240" cy="1005840"/>
          </a:xfrm>
          <a:prstGeom prst="rect">
            <a:avLst/>
          </a:prstGeom>
          <a:solidFill>
            <a:srgbClr val="FBF3DC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4736592" y="2670048"/>
            <a:ext cx="91440" cy="100584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4901184" y="2743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🕐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5449824" y="272491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60% Arrive 15 Min Early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901184" y="3090672"/>
            <a:ext cx="3913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of moviegoers arrive at least 15 minutes before their film starts, spending that time in the lobby — directly in front of your brand display.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274320" y="3785616"/>
            <a:ext cx="4206240" cy="1005840"/>
          </a:xfrm>
          <a:prstGeom prst="rect">
            <a:avLst/>
          </a:prstGeom>
          <a:solidFill>
            <a:srgbClr val="E8EEF5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274320" y="3785616"/>
            <a:ext cx="91440" cy="1005840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438912" y="38587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🍿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987552" y="384048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 Revenue from F&amp;B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38912" y="4206240"/>
            <a:ext cx="3913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 F&amp;B spend (30% of cinema revenue) confirms that lobby time is active, engaged, and purchasing-minded — a premium mindset for advertisers.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736592" y="3785616"/>
            <a:ext cx="4206240" cy="1005840"/>
          </a:xfrm>
          <a:prstGeom prst="rect">
            <a:avLst/>
          </a:prstGeom>
          <a:solidFill>
            <a:srgbClr val="F0EAF8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5"/>
          <p:cNvSpPr/>
          <p:nvPr/>
        </p:nvSpPr>
        <p:spPr>
          <a:xfrm>
            <a:off x="4736592" y="3785616"/>
            <a:ext cx="91440" cy="1005840"/>
          </a:xfrm>
          <a:prstGeom prst="rect">
            <a:avLst/>
          </a:prstGeom>
          <a:solidFill>
            <a:srgbClr val="5B3A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4901184" y="38587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⏱️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5449824" y="384048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30–35 Mins Lobby Dwell Time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4901184" y="4206240"/>
            <a:ext cx="3913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moviegoer spends 30 to 35 minutes in the lobby area — during entry, ticket collection, F&amp;B purchase, and interval — giving multiple ad exposures.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0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mithrah.me  |  +91 87 9245 9245  |  mithrah.me@gmail.com  |  www.mithrah.me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54864"/>
            <a:ext cx="105156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097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 INDIA CINEMA NETWORK — COVERAGE &amp; SCALE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74320" y="877824"/>
            <a:ext cx="1993392" cy="1417320"/>
          </a:xfrm>
          <a:prstGeom prst="rect">
            <a:avLst/>
          </a:prstGeom>
          <a:solidFill>
            <a:srgbClr val="FAE8E8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274320" y="877824"/>
            <a:ext cx="1993392" cy="73152"/>
          </a:xfrm>
          <a:prstGeom prst="rect">
            <a:avLst/>
          </a:prstGeom>
          <a:solidFill>
            <a:srgbClr val="B500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274320" y="1005840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500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274320" y="1554480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450592" y="877824"/>
            <a:ext cx="1993392" cy="1417320"/>
          </a:xfrm>
          <a:prstGeom prst="rect">
            <a:avLst/>
          </a:prstGeom>
          <a:solidFill>
            <a:srgbClr val="FBF3DC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2450592" y="877824"/>
            <a:ext cx="1993392" cy="73152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2450592" y="1005840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56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2450592" y="1554480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India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26864" y="877824"/>
            <a:ext cx="1993392" cy="1417320"/>
          </a:xfrm>
          <a:prstGeom prst="rect">
            <a:avLst/>
          </a:prstGeom>
          <a:solidFill>
            <a:srgbClr val="E8EEF5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626864" y="877824"/>
            <a:ext cx="1993392" cy="73152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626864" y="1005840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185+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4626864" y="1554480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Multiplex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803136" y="877824"/>
            <a:ext cx="1993392" cy="1417320"/>
          </a:xfrm>
          <a:prstGeom prst="rect">
            <a:avLst/>
          </a:prstGeom>
          <a:solidFill>
            <a:srgbClr val="F0EAF8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6803136" y="877824"/>
            <a:ext cx="1993392" cy="73152"/>
          </a:xfrm>
          <a:prstGeom prst="rect">
            <a:avLst/>
          </a:prstGeom>
          <a:solidFill>
            <a:srgbClr val="5B3A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803136" y="1005840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B3A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1,500+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6803136" y="1554480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(Digital Displays)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274320" y="2450592"/>
            <a:ext cx="1993392" cy="1298448"/>
          </a:xfrm>
          <a:prstGeom prst="rect">
            <a:avLst/>
          </a:prstGeom>
          <a:solidFill>
            <a:srgbClr val="E2F4F5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274320" y="2450592"/>
            <a:ext cx="1993392" cy="73152"/>
          </a:xfrm>
          <a:prstGeom prst="rect">
            <a:avLst/>
          </a:prstGeom>
          <a:solidFill>
            <a:srgbClr val="1A7F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274320" y="2578608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7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 Lac+</a:t>
            </a:r>
            <a:endParaRPr lang="en-US" sz="3000" dirty="0"/>
          </a:p>
        </p:txBody>
      </p:sp>
      <p:sp>
        <p:nvSpPr>
          <p:cNvPr id="24" name="Text 21"/>
          <p:cNvSpPr/>
          <p:nvPr/>
        </p:nvSpPr>
        <p:spPr>
          <a:xfrm>
            <a:off x="274320" y="3127248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Reach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2450592" y="2450592"/>
            <a:ext cx="1993392" cy="1298448"/>
          </a:xfrm>
          <a:prstGeom prst="rect">
            <a:avLst/>
          </a:prstGeom>
          <a:solidFill>
            <a:srgbClr val="FAE8E8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2450592" y="2450592"/>
            <a:ext cx="1993392" cy="73152"/>
          </a:xfrm>
          <a:prstGeom prst="rect">
            <a:avLst/>
          </a:prstGeom>
          <a:solidFill>
            <a:srgbClr val="B500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2450592" y="2578608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500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390</a:t>
            </a:r>
            <a:endParaRPr lang="en-US" sz="3000" dirty="0"/>
          </a:p>
        </p:txBody>
      </p:sp>
      <p:sp>
        <p:nvSpPr>
          <p:cNvPr id="28" name="Text 25"/>
          <p:cNvSpPr/>
          <p:nvPr/>
        </p:nvSpPr>
        <p:spPr>
          <a:xfrm>
            <a:off x="2450592" y="3127248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Spots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Day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626864" y="2450592"/>
            <a:ext cx="1993392" cy="1298448"/>
          </a:xfrm>
          <a:prstGeom prst="rect">
            <a:avLst/>
          </a:prstGeom>
          <a:solidFill>
            <a:srgbClr val="FBF3DC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7"/>
          <p:cNvSpPr/>
          <p:nvPr/>
        </p:nvSpPr>
        <p:spPr>
          <a:xfrm>
            <a:off x="4626864" y="2450592"/>
            <a:ext cx="1993392" cy="73152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4626864" y="2578608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sec</a:t>
            </a:r>
            <a:endParaRPr lang="en-US" sz="3000" dirty="0"/>
          </a:p>
        </p:txBody>
      </p:sp>
      <p:sp>
        <p:nvSpPr>
          <p:cNvPr id="32" name="Text 29"/>
          <p:cNvSpPr/>
          <p:nvPr/>
        </p:nvSpPr>
        <p:spPr>
          <a:xfrm>
            <a:off x="4626864" y="3127248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Spot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803136" y="2450592"/>
            <a:ext cx="1993392" cy="1298448"/>
          </a:xfrm>
          <a:prstGeom prst="rect">
            <a:avLst/>
          </a:prstGeom>
          <a:solidFill>
            <a:srgbClr val="E8EEF5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1"/>
          <p:cNvSpPr/>
          <p:nvPr/>
        </p:nvSpPr>
        <p:spPr>
          <a:xfrm>
            <a:off x="6803136" y="2450592"/>
            <a:ext cx="1993392" cy="73152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6803136" y="2578608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min</a:t>
            </a:r>
            <a:endParaRPr lang="en-US" sz="3000" dirty="0"/>
          </a:p>
        </p:txBody>
      </p:sp>
      <p:sp>
        <p:nvSpPr>
          <p:cNvPr id="36" name="Text 33"/>
          <p:cNvSpPr/>
          <p:nvPr/>
        </p:nvSpPr>
        <p:spPr>
          <a:xfrm>
            <a:off x="6803136" y="3127248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Cycle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 screen)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274320" y="3877056"/>
            <a:ext cx="8595360" cy="749808"/>
          </a:xfrm>
          <a:prstGeom prst="rect">
            <a:avLst/>
          </a:prstGeom>
          <a:solidFill>
            <a:srgbClr val="FAE8E8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5"/>
          <p:cNvSpPr/>
          <p:nvPr/>
        </p:nvSpPr>
        <p:spPr>
          <a:xfrm>
            <a:off x="274320" y="3877056"/>
            <a:ext cx="8595360" cy="73152"/>
          </a:xfrm>
          <a:prstGeom prst="rect">
            <a:avLst/>
          </a:prstGeom>
          <a:solidFill>
            <a:srgbClr val="B500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420624" y="39319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500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🗺️  Coverage Highlights: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420624" y="422452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Delhi: 30 Properties · 310 Screens     Maharashtra: 29 Properties · 288 Screens     Karnataka: 20 Properties · 171 Screens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Nadu: 18 Properties · 194 Screens     Telangana: 13 Properties · 128 Screens     Gujarat: 14 Properties · 86 Screens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mithrah.me  |  +91 87 9245 9245  |  mithrah.me@gmail.com  |  www.mithrah.me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B5001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54864"/>
            <a:ext cx="105156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097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CUSTOMER JOURNEY — When Does Your Brand Show?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320040" y="80467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moviegoer passes through 3 distinct lobby moments — each one a prime advertising opportunity for your brand.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56032" y="1207008"/>
            <a:ext cx="1993392" cy="3419856"/>
          </a:xfrm>
          <a:prstGeom prst="rect">
            <a:avLst/>
          </a:prstGeom>
          <a:solidFill>
            <a:srgbClr val="FAE8E8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256032" y="1207008"/>
            <a:ext cx="1993392" cy="73152"/>
          </a:xfrm>
          <a:prstGeom prst="rect">
            <a:avLst/>
          </a:prstGeom>
          <a:solidFill>
            <a:srgbClr val="B500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914400" y="1316736"/>
            <a:ext cx="658368" cy="658368"/>
          </a:xfrm>
          <a:prstGeom prst="ellipse">
            <a:avLst/>
          </a:prstGeom>
          <a:solidFill>
            <a:srgbClr val="B500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914400" y="13167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🎫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38912" y="2121408"/>
            <a:ext cx="1627632" cy="365760"/>
          </a:xfrm>
          <a:prstGeom prst="rect">
            <a:avLst/>
          </a:prstGeom>
          <a:solidFill>
            <a:srgbClr val="B5001F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38912" y="212140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500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Minutes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65760" y="2578608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Ticket Collection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Entry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65760" y="3182112"/>
            <a:ext cx="1792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arrives, collects tickets, and enters the lobby. First exposure to the lobby screen happens here.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249424" y="2414016"/>
            <a:ext cx="182880" cy="91440"/>
          </a:xfrm>
          <a:prstGeom prst="rect">
            <a:avLst/>
          </a:prstGeom>
          <a:solidFill>
            <a:srgbClr val="B500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2432304" y="1207008"/>
            <a:ext cx="1993392" cy="3419856"/>
          </a:xfrm>
          <a:prstGeom prst="rect">
            <a:avLst/>
          </a:prstGeom>
          <a:solidFill>
            <a:srgbClr val="FBF3DC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2432304" y="1207008"/>
            <a:ext cx="1993392" cy="73152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3090672" y="1316736"/>
            <a:ext cx="658368" cy="658368"/>
          </a:xfrm>
          <a:prstGeom prst="ellipse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3090672" y="13167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🛋️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2615184" y="2121408"/>
            <a:ext cx="1627632" cy="365760"/>
          </a:xfrm>
          <a:prstGeom prst="rect">
            <a:avLst/>
          </a:prstGeom>
          <a:solidFill>
            <a:srgbClr val="D4A017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2615184" y="212140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0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15–20 Minutes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542032" y="2578608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Lobby Waiting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Area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542032" y="3182112"/>
            <a:ext cx="1792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longest and most engaged lobby moment. Customers browse, relax, and look around — directly in front of the 43" screen.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425696" y="2414016"/>
            <a:ext cx="182880" cy="91440"/>
          </a:xfrm>
          <a:prstGeom prst="rect">
            <a:avLst/>
          </a:prstGeom>
          <a:solidFill>
            <a:srgbClr val="B500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4608576" y="1207008"/>
            <a:ext cx="1993392" cy="3419856"/>
          </a:xfrm>
          <a:prstGeom prst="rect">
            <a:avLst/>
          </a:prstGeom>
          <a:solidFill>
            <a:srgbClr val="E8EEF5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4608576" y="1207008"/>
            <a:ext cx="1993392" cy="73152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5266944" y="1316736"/>
            <a:ext cx="658368" cy="658368"/>
          </a:xfrm>
          <a:prstGeom prst="ellipse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5266944" y="13167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🍿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4791456" y="2121408"/>
            <a:ext cx="1627632" cy="365760"/>
          </a:xfrm>
          <a:prstGeom prst="rect">
            <a:avLst/>
          </a:prstGeom>
          <a:solidFill>
            <a:srgbClr val="1C2B3A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4791456" y="212140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2–3 Hours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718304" y="2578608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Movie Watching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718304" y="3182112"/>
            <a:ext cx="1792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 film. Brand awareness built in the lobby stays in mind throughout the movie-watching experience.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6601968" y="2414016"/>
            <a:ext cx="182880" cy="91440"/>
          </a:xfrm>
          <a:prstGeom prst="rect">
            <a:avLst/>
          </a:prstGeom>
          <a:solidFill>
            <a:srgbClr val="B500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6784848" y="1207008"/>
            <a:ext cx="1993392" cy="3419856"/>
          </a:xfrm>
          <a:prstGeom prst="rect">
            <a:avLst/>
          </a:prstGeom>
          <a:solidFill>
            <a:srgbClr val="F0EAF8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1"/>
          <p:cNvSpPr/>
          <p:nvPr/>
        </p:nvSpPr>
        <p:spPr>
          <a:xfrm>
            <a:off x="6784848" y="1207008"/>
            <a:ext cx="1993392" cy="73152"/>
          </a:xfrm>
          <a:prstGeom prst="rect">
            <a:avLst/>
          </a:prstGeom>
          <a:solidFill>
            <a:srgbClr val="5B3A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2"/>
          <p:cNvSpPr/>
          <p:nvPr/>
        </p:nvSpPr>
        <p:spPr>
          <a:xfrm>
            <a:off x="7443216" y="1316736"/>
            <a:ext cx="658368" cy="658368"/>
          </a:xfrm>
          <a:prstGeom prst="ellipse">
            <a:avLst/>
          </a:prstGeom>
          <a:solidFill>
            <a:srgbClr val="5B3A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7443216" y="13167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🧃</a:t>
            </a:r>
            <a:endParaRPr lang="en-US" sz="2200" dirty="0"/>
          </a:p>
        </p:txBody>
      </p:sp>
      <p:sp>
        <p:nvSpPr>
          <p:cNvPr id="37" name="Shape 34"/>
          <p:cNvSpPr/>
          <p:nvPr/>
        </p:nvSpPr>
        <p:spPr>
          <a:xfrm>
            <a:off x="6967728" y="2121408"/>
            <a:ext cx="1627632" cy="365760"/>
          </a:xfrm>
          <a:prstGeom prst="rect">
            <a:avLst/>
          </a:prstGeom>
          <a:solidFill>
            <a:srgbClr val="5B3A8C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6967728" y="212140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3A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15–20 Minutes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6894576" y="2578608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Interval F&amp;B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Purchase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6894576" y="3182112"/>
            <a:ext cx="1792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interval is a second wave of lobby time — customers return to buy snacks and drinks, re-exposed to lobby screens.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256032" y="4663440"/>
            <a:ext cx="8631936" cy="201168"/>
          </a:xfrm>
          <a:prstGeom prst="rect">
            <a:avLst/>
          </a:prstGeom>
          <a:solidFill>
            <a:srgbClr val="FA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347472" y="4663440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500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Total Lobby Dwell Time:  30–35 Minutes per Visit  |  Your brand gets multiple exposures every single visit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1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mithrah.me  |  +91 87 9245 9245  |  mithrah.me@gmail.com  |  www.mithrah.me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54864"/>
            <a:ext cx="105156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097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PVR INOX LOBBY MARKETING?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320040" y="80467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nowhere else will your brand meet this audience in this mindset — captive, relaxed, and fully present.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56032" y="1243584"/>
            <a:ext cx="2798064" cy="1700784"/>
          </a:xfrm>
          <a:prstGeom prst="rect">
            <a:avLst/>
          </a:prstGeom>
          <a:solidFill>
            <a:srgbClr val="FAE8E8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256032" y="1243584"/>
            <a:ext cx="91440" cy="1700784"/>
          </a:xfrm>
          <a:prstGeom prst="rect">
            <a:avLst/>
          </a:prstGeom>
          <a:solidFill>
            <a:srgbClr val="B500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38912" y="136245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38912" y="1847088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Captive Premium Audience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38912" y="2231136"/>
            <a:ext cx="2505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 of cinema-goers belong to NCCS A1/A2 — India's top spending class. This is one of the only media formats where you reach this segment with zero skip option.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36976" y="1243584"/>
            <a:ext cx="2798064" cy="1700784"/>
          </a:xfrm>
          <a:prstGeom prst="rect">
            <a:avLst/>
          </a:prstGeom>
          <a:solidFill>
            <a:srgbClr val="FBF3DC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236976" y="1243584"/>
            <a:ext cx="91440" cy="1700784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3419856" y="136245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📺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419856" y="1847088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Skip, No Ad-Block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419856" y="2231136"/>
            <a:ext cx="2505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digital, there is no skip button or ad blocker. Every person who walks into the lobby sees your brand on the screen — full, unavoidable exposure.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217920" y="1243584"/>
            <a:ext cx="2798064" cy="1700784"/>
          </a:xfrm>
          <a:prstGeom prst="rect">
            <a:avLst/>
          </a:prstGeom>
          <a:solidFill>
            <a:srgbClr val="E8EEF5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6217920" y="1243584"/>
            <a:ext cx="91440" cy="1700784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400800" y="136245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400800" y="1847088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Recall Environment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0" y="2231136"/>
            <a:ext cx="2505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lobby is a calm, distraction-low space. Audiences waiting for their film are mentally relaxed and receptive — dramatically boosting brand recall and retention.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56032" y="3090672"/>
            <a:ext cx="2798064" cy="1700784"/>
          </a:xfrm>
          <a:prstGeom prst="rect">
            <a:avLst/>
          </a:prstGeom>
          <a:solidFill>
            <a:srgbClr val="F0EAF8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256032" y="3090672"/>
            <a:ext cx="91440" cy="1700784"/>
          </a:xfrm>
          <a:prstGeom prst="rect">
            <a:avLst/>
          </a:prstGeom>
          <a:solidFill>
            <a:srgbClr val="5B3A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438912" y="32095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38912" y="3694176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Repeated Exposure Per Visit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38912" y="4078224"/>
            <a:ext cx="2505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30–35 minutes of lobby time — split between entry and interval — every moviegoer sees your 10-second spot multiple times in a single visit.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236976" y="3090672"/>
            <a:ext cx="2798064" cy="1700784"/>
          </a:xfrm>
          <a:prstGeom prst="rect">
            <a:avLst/>
          </a:prstGeom>
          <a:solidFill>
            <a:srgbClr val="E2F4F5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3236976" y="3090672"/>
            <a:ext cx="91440" cy="1700784"/>
          </a:xfrm>
          <a:prstGeom prst="rect">
            <a:avLst/>
          </a:prstGeom>
          <a:solidFill>
            <a:srgbClr val="1A7F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3419856" y="32095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3419856" y="3694176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 India Scale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3419856" y="4078224"/>
            <a:ext cx="2505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booking, nationwide reach. Your campaign runs across 185+ properties in 20 states and 56 cities — perfect for national brands seeking consistent metro coverage.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17920" y="3090672"/>
            <a:ext cx="2798064" cy="1700784"/>
          </a:xfrm>
          <a:prstGeom prst="rect">
            <a:avLst/>
          </a:prstGeom>
          <a:solidFill>
            <a:srgbClr val="FAE8E8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6217920" y="3090672"/>
            <a:ext cx="91440" cy="1700784"/>
          </a:xfrm>
          <a:prstGeom prst="rect">
            <a:avLst/>
          </a:prstGeom>
          <a:solidFill>
            <a:srgbClr val="B500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6400800" y="32095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6400800" y="3694176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Premium ROI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400800" y="4078224"/>
            <a:ext cx="2505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₹348 average spend per head on tickets and F&amp;B confirms a financially capable, decision-making audience — maximising the return on every advertising rupee.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mithrah.me  |  +91 87 9245 9245  |  mithrah.me@gmail.com  |  www.mithrah.me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B5001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54864"/>
            <a:ext cx="105156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097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ADVANTAGES OF PVR INOX LOBBY MARKETING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859536"/>
            <a:ext cx="4206240" cy="1325880"/>
          </a:xfrm>
          <a:prstGeom prst="rect">
            <a:avLst/>
          </a:prstGeom>
          <a:solidFill>
            <a:srgbClr val="FAE8E8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420624" y="1024128"/>
            <a:ext cx="475488" cy="475488"/>
          </a:xfrm>
          <a:prstGeom prst="ellipse">
            <a:avLst/>
          </a:prstGeom>
          <a:solidFill>
            <a:srgbClr val="B500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20624" y="1024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33272" y="10149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Distraction Environment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33272" y="1426464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 lobbies have no competing screens or noise. Your brand has the full, undivided attention of a waiting audience — a luxury no other format can offer.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18304" y="859536"/>
            <a:ext cx="4206240" cy="1325880"/>
          </a:xfrm>
          <a:prstGeom prst="rect">
            <a:avLst/>
          </a:prstGeom>
          <a:solidFill>
            <a:srgbClr val="FBF3DC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882896" y="1024128"/>
            <a:ext cx="475488" cy="475488"/>
          </a:xfrm>
          <a:prstGeom prst="ellipse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4882896" y="1024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495544" y="10149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NCCS A1/A2 Audience — 89%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95544" y="1426464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affluent and brand-conscious segment in India. Cinema attracts decision-makers, early adopters, and high household income consumers.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56032" y="2304288"/>
            <a:ext cx="4206240" cy="1325880"/>
          </a:xfrm>
          <a:prstGeom prst="rect">
            <a:avLst/>
          </a:prstGeom>
          <a:solidFill>
            <a:srgbClr val="E8EEF5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420624" y="2468880"/>
            <a:ext cx="475488" cy="475488"/>
          </a:xfrm>
          <a:prstGeom prst="ellipse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420624" y="2468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033272" y="245973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Geo-Targeted City Campaigns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33272" y="2871216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campaigns specifically in target cities — Bangalore, Mumbai, Delhi, Chennai, Hyderabad — reaching the right urban audience in the right location.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718304" y="2304288"/>
            <a:ext cx="4206240" cy="1325880"/>
          </a:xfrm>
          <a:prstGeom prst="rect">
            <a:avLst/>
          </a:prstGeom>
          <a:solidFill>
            <a:srgbClr val="F0EAF8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4882896" y="2468880"/>
            <a:ext cx="475488" cy="475488"/>
          </a:xfrm>
          <a:prstGeom prst="ellipse">
            <a:avLst/>
          </a:prstGeom>
          <a:solidFill>
            <a:srgbClr val="5B3A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4882896" y="2468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495544" y="245973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 Safe, Contextual Environment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95544" y="2871216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 is a premium, entertainment-linked context. Your brand benefits from the excitement and positive emotion associated with the movie-going experience.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256032" y="3749040"/>
            <a:ext cx="4206240" cy="1325880"/>
          </a:xfrm>
          <a:prstGeom prst="rect">
            <a:avLst/>
          </a:prstGeom>
          <a:solidFill>
            <a:srgbClr val="E2F4F5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420624" y="3913632"/>
            <a:ext cx="475488" cy="475488"/>
          </a:xfrm>
          <a:prstGeom prst="ellipse">
            <a:avLst/>
          </a:prstGeom>
          <a:solidFill>
            <a:srgbClr val="1A7F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420624" y="3913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033272" y="390448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Frequency Exposure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033272" y="4315968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2.31 average monthly visits per person and 30+ minutes of lobby time, your campaign accumulates repeated, high-frequency impressions per customer.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718304" y="3749040"/>
            <a:ext cx="4206240" cy="1325880"/>
          </a:xfrm>
          <a:prstGeom prst="rect">
            <a:avLst/>
          </a:prstGeom>
          <a:solidFill>
            <a:srgbClr val="FAE8E8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4882896" y="3913632"/>
            <a:ext cx="475488" cy="475488"/>
          </a:xfrm>
          <a:prstGeom prst="ellipse">
            <a:avLst/>
          </a:prstGeom>
          <a:solidFill>
            <a:srgbClr val="B500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4882896" y="3913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5495544" y="390448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Complements Digital &amp; TV Campaigns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495544" y="4315968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 lobby advertising perfectly extends and reinforces TV and digital campaigns — creating an offline touchpoint that drives recall and conversion.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mithrah.me  |  +91 87 9245 9245  |  mithrah.me@gmail.com  |  www.mithrah.me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54864"/>
            <a:ext cx="105156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097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PVR INOX LOBBY vs OTHER ADVERTISING FORMATS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" y="804672"/>
            <a:ext cx="2176272" cy="475488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45720" y="804672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267712" y="804672"/>
            <a:ext cx="1828800" cy="475488"/>
          </a:xfrm>
          <a:prstGeom prst="rect">
            <a:avLst/>
          </a:prstGeom>
          <a:solidFill>
            <a:srgbClr val="B500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267712" y="8046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🎬 PVR INOX Lobby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142232" y="804672"/>
            <a:ext cx="1719072" cy="475488"/>
          </a:xfrm>
          <a:prstGeom prst="rect">
            <a:avLst/>
          </a:prstGeom>
          <a:solidFill>
            <a:srgbClr val="6070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142232" y="804672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Hoarding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07024" y="804672"/>
            <a:ext cx="1719072" cy="475488"/>
          </a:xfrm>
          <a:prstGeom prst="rect">
            <a:avLst/>
          </a:prstGeom>
          <a:solidFill>
            <a:srgbClr val="1A7F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907024" y="804672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📱 Digital Ads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671816" y="804672"/>
            <a:ext cx="1609344" cy="475488"/>
          </a:xfrm>
          <a:prstGeom prst="rect">
            <a:avLst/>
          </a:prstGeom>
          <a:solidFill>
            <a:srgbClr val="5B3A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7671816" y="804672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📺 TV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" y="1316736"/>
            <a:ext cx="2176272" cy="484632"/>
          </a:xfrm>
          <a:prstGeom prst="rect">
            <a:avLst/>
          </a:prstGeom>
          <a:solidFill>
            <a:srgbClr val="FA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118872" y="1316736"/>
            <a:ext cx="20665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Quality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267712" y="1316736"/>
            <a:ext cx="1828800" cy="484632"/>
          </a:xfrm>
          <a:prstGeom prst="rect">
            <a:avLst/>
          </a:prstGeom>
          <a:solidFill>
            <a:srgbClr val="FA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2340864" y="1316736"/>
            <a:ext cx="17190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50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NCCS A1/A2 — 89%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142232" y="1316736"/>
            <a:ext cx="1719072" cy="484632"/>
          </a:xfrm>
          <a:prstGeom prst="rect">
            <a:avLst/>
          </a:prstGeom>
          <a:solidFill>
            <a:srgbClr val="FA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4215384" y="1316736"/>
            <a:ext cx="16093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Mass, mixed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907024" y="1316736"/>
            <a:ext cx="1719072" cy="484632"/>
          </a:xfrm>
          <a:prstGeom prst="rect">
            <a:avLst/>
          </a:prstGeom>
          <a:solidFill>
            <a:srgbClr val="FA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5980176" y="1316736"/>
            <a:ext cx="16093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Algorithmically targeted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671816" y="1316736"/>
            <a:ext cx="1609344" cy="484632"/>
          </a:xfrm>
          <a:prstGeom prst="rect">
            <a:avLst/>
          </a:prstGeom>
          <a:solidFill>
            <a:srgbClr val="FA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7744968" y="1316736"/>
            <a:ext cx="14996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mass audience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5720" y="1819656"/>
            <a:ext cx="2176272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118872" y="1819656"/>
            <a:ext cx="20665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Option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267712" y="1819656"/>
            <a:ext cx="1828800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2340864" y="1819656"/>
            <a:ext cx="17190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50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 — Captive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142232" y="1819656"/>
            <a:ext cx="1719072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4215384" y="1819656"/>
            <a:ext cx="16093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walk past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907024" y="1819656"/>
            <a:ext cx="1719072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5980176" y="1819656"/>
            <a:ext cx="16093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Skip anytime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671816" y="1819656"/>
            <a:ext cx="1609344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7744968" y="1819656"/>
            <a:ext cx="14996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Channel change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5720" y="2322576"/>
            <a:ext cx="2176272" cy="484632"/>
          </a:xfrm>
          <a:prstGeom prst="rect">
            <a:avLst/>
          </a:prstGeom>
          <a:solidFill>
            <a:srgbClr val="FBF3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118872" y="2322576"/>
            <a:ext cx="20665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 Time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2267712" y="2322576"/>
            <a:ext cx="1828800" cy="484632"/>
          </a:xfrm>
          <a:prstGeom prst="rect">
            <a:avLst/>
          </a:prstGeom>
          <a:solidFill>
            <a:srgbClr val="FBF3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2340864" y="2322576"/>
            <a:ext cx="17190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50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30–35 min per visit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4142232" y="2322576"/>
            <a:ext cx="1719072" cy="484632"/>
          </a:xfrm>
          <a:prstGeom prst="rect">
            <a:avLst/>
          </a:prstGeom>
          <a:solidFill>
            <a:srgbClr val="FBF3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4215384" y="2322576"/>
            <a:ext cx="16093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seconds glance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907024" y="2322576"/>
            <a:ext cx="1719072" cy="484632"/>
          </a:xfrm>
          <a:prstGeom prst="rect">
            <a:avLst/>
          </a:prstGeom>
          <a:solidFill>
            <a:srgbClr val="FBF3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5980176" y="2322576"/>
            <a:ext cx="16093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 seconds average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7671816" y="2322576"/>
            <a:ext cx="1609344" cy="484632"/>
          </a:xfrm>
          <a:prstGeom prst="rect">
            <a:avLst/>
          </a:prstGeom>
          <a:solidFill>
            <a:srgbClr val="FBF3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1"/>
          <p:cNvSpPr/>
          <p:nvPr/>
        </p:nvSpPr>
        <p:spPr>
          <a:xfrm>
            <a:off x="7744968" y="2322576"/>
            <a:ext cx="14996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22 min/day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45720" y="2825496"/>
            <a:ext cx="2176272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3"/>
          <p:cNvSpPr/>
          <p:nvPr/>
        </p:nvSpPr>
        <p:spPr>
          <a:xfrm>
            <a:off x="118872" y="2825496"/>
            <a:ext cx="20665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Reach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2267712" y="2825496"/>
            <a:ext cx="1828800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2340864" y="2825496"/>
            <a:ext cx="17190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50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Lac+ verified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4142232" y="2825496"/>
            <a:ext cx="1719072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7"/>
          <p:cNvSpPr/>
          <p:nvPr/>
        </p:nvSpPr>
        <p:spPr>
          <a:xfrm>
            <a:off x="4215384" y="2825496"/>
            <a:ext cx="16093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Footfall estimated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5907024" y="2825496"/>
            <a:ext cx="1719072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49"/>
          <p:cNvSpPr/>
          <p:nvPr/>
        </p:nvSpPr>
        <p:spPr>
          <a:xfrm>
            <a:off x="5980176" y="2825496"/>
            <a:ext cx="16093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CPM-based variable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7671816" y="2825496"/>
            <a:ext cx="1609344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1"/>
          <p:cNvSpPr/>
          <p:nvPr/>
        </p:nvSpPr>
        <p:spPr>
          <a:xfrm>
            <a:off x="7744968" y="2825496"/>
            <a:ext cx="14996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150M+ passive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45720" y="3328416"/>
            <a:ext cx="2176272" cy="484632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3"/>
          <p:cNvSpPr/>
          <p:nvPr/>
        </p:nvSpPr>
        <p:spPr>
          <a:xfrm>
            <a:off x="118872" y="3328416"/>
            <a:ext cx="20665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Recall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2267712" y="3328416"/>
            <a:ext cx="1828800" cy="484632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5"/>
          <p:cNvSpPr/>
          <p:nvPr/>
        </p:nvSpPr>
        <p:spPr>
          <a:xfrm>
            <a:off x="2340864" y="3328416"/>
            <a:ext cx="17190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50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(relaxed)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4142232" y="3328416"/>
            <a:ext cx="1719072" cy="484632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7"/>
          <p:cNvSpPr/>
          <p:nvPr/>
        </p:nvSpPr>
        <p:spPr>
          <a:xfrm>
            <a:off x="4215384" y="3328416"/>
            <a:ext cx="16093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5907024" y="3328416"/>
            <a:ext cx="1719072" cy="484632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59"/>
          <p:cNvSpPr/>
          <p:nvPr/>
        </p:nvSpPr>
        <p:spPr>
          <a:xfrm>
            <a:off x="5980176" y="3328416"/>
            <a:ext cx="16093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(ad fatigue)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7671816" y="3328416"/>
            <a:ext cx="1609344" cy="484632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1"/>
          <p:cNvSpPr/>
          <p:nvPr/>
        </p:nvSpPr>
        <p:spPr>
          <a:xfrm>
            <a:off x="7744968" y="3328416"/>
            <a:ext cx="14996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45720" y="3831336"/>
            <a:ext cx="2176272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3"/>
          <p:cNvSpPr/>
          <p:nvPr/>
        </p:nvSpPr>
        <p:spPr>
          <a:xfrm>
            <a:off x="118872" y="3831336"/>
            <a:ext cx="20665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000" dirty="0"/>
          </a:p>
        </p:txBody>
      </p:sp>
      <p:sp>
        <p:nvSpPr>
          <p:cNvPr id="67" name="Shape 64"/>
          <p:cNvSpPr/>
          <p:nvPr/>
        </p:nvSpPr>
        <p:spPr>
          <a:xfrm>
            <a:off x="2267712" y="3831336"/>
            <a:ext cx="1828800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5"/>
          <p:cNvSpPr/>
          <p:nvPr/>
        </p:nvSpPr>
        <p:spPr>
          <a:xfrm>
            <a:off x="2340864" y="3831336"/>
            <a:ext cx="17190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50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multiplex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4142232" y="3831336"/>
            <a:ext cx="1719072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7"/>
          <p:cNvSpPr/>
          <p:nvPr/>
        </p:nvSpPr>
        <p:spPr>
          <a:xfrm>
            <a:off x="4215384" y="3831336"/>
            <a:ext cx="16093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/ street</a:t>
            </a:r>
            <a:endParaRPr lang="en-US" sz="1000" dirty="0"/>
          </a:p>
        </p:txBody>
      </p:sp>
      <p:sp>
        <p:nvSpPr>
          <p:cNvPr id="71" name="Shape 68"/>
          <p:cNvSpPr/>
          <p:nvPr/>
        </p:nvSpPr>
        <p:spPr>
          <a:xfrm>
            <a:off x="5907024" y="3831336"/>
            <a:ext cx="1719072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69"/>
          <p:cNvSpPr/>
          <p:nvPr/>
        </p:nvSpPr>
        <p:spPr>
          <a:xfrm>
            <a:off x="5980176" y="3831336"/>
            <a:ext cx="16093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device, anywhere</a:t>
            </a:r>
            <a:endParaRPr lang="en-US" sz="1000" dirty="0"/>
          </a:p>
        </p:txBody>
      </p:sp>
      <p:sp>
        <p:nvSpPr>
          <p:cNvPr id="73" name="Shape 70"/>
          <p:cNvSpPr/>
          <p:nvPr/>
        </p:nvSpPr>
        <p:spPr>
          <a:xfrm>
            <a:off x="7671816" y="3831336"/>
            <a:ext cx="1609344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71"/>
          <p:cNvSpPr/>
          <p:nvPr/>
        </p:nvSpPr>
        <p:spPr>
          <a:xfrm>
            <a:off x="7744968" y="3831336"/>
            <a:ext cx="14996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/ passive</a:t>
            </a:r>
            <a:endParaRPr lang="en-US" sz="1000" dirty="0"/>
          </a:p>
        </p:txBody>
      </p:sp>
      <p:sp>
        <p:nvSpPr>
          <p:cNvPr id="75" name="Shape 72"/>
          <p:cNvSpPr/>
          <p:nvPr/>
        </p:nvSpPr>
        <p:spPr>
          <a:xfrm>
            <a:off x="45720" y="4334256"/>
            <a:ext cx="2176272" cy="484632"/>
          </a:xfrm>
          <a:prstGeom prst="rect">
            <a:avLst/>
          </a:prstGeom>
          <a:solidFill>
            <a:srgbClr val="F0EA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73"/>
          <p:cNvSpPr/>
          <p:nvPr/>
        </p:nvSpPr>
        <p:spPr>
          <a:xfrm>
            <a:off x="118872" y="4334256"/>
            <a:ext cx="20665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Model</a:t>
            </a:r>
            <a:endParaRPr lang="en-US" sz="1000" dirty="0"/>
          </a:p>
        </p:txBody>
      </p:sp>
      <p:sp>
        <p:nvSpPr>
          <p:cNvPr id="77" name="Shape 74"/>
          <p:cNvSpPr/>
          <p:nvPr/>
        </p:nvSpPr>
        <p:spPr>
          <a:xfrm>
            <a:off x="2267712" y="4334256"/>
            <a:ext cx="1828800" cy="484632"/>
          </a:xfrm>
          <a:prstGeom prst="rect">
            <a:avLst/>
          </a:prstGeom>
          <a:solidFill>
            <a:srgbClr val="F0EA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Text 75"/>
          <p:cNvSpPr/>
          <p:nvPr/>
        </p:nvSpPr>
        <p:spPr>
          <a:xfrm>
            <a:off x="2340864" y="4334256"/>
            <a:ext cx="17190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50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Per-screen booking</a:t>
            </a:r>
            <a:endParaRPr lang="en-US" sz="1000" dirty="0"/>
          </a:p>
        </p:txBody>
      </p:sp>
      <p:sp>
        <p:nvSpPr>
          <p:cNvPr id="79" name="Shape 76"/>
          <p:cNvSpPr/>
          <p:nvPr/>
        </p:nvSpPr>
        <p:spPr>
          <a:xfrm>
            <a:off x="4142232" y="4334256"/>
            <a:ext cx="1719072" cy="484632"/>
          </a:xfrm>
          <a:prstGeom prst="rect">
            <a:avLst/>
          </a:prstGeom>
          <a:solidFill>
            <a:srgbClr val="F0EA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Text 77"/>
          <p:cNvSpPr/>
          <p:nvPr/>
        </p:nvSpPr>
        <p:spPr>
          <a:xfrm>
            <a:off x="4215384" y="4334256"/>
            <a:ext cx="16093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monthly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5907024" y="4334256"/>
            <a:ext cx="1719072" cy="484632"/>
          </a:xfrm>
          <a:prstGeom prst="rect">
            <a:avLst/>
          </a:prstGeom>
          <a:solidFill>
            <a:srgbClr val="F0EA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79"/>
          <p:cNvSpPr/>
          <p:nvPr/>
        </p:nvSpPr>
        <p:spPr>
          <a:xfrm>
            <a:off x="5980176" y="4334256"/>
            <a:ext cx="16093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 / CPC ongoing</a:t>
            </a:r>
            <a:endParaRPr lang="en-US" sz="1000" dirty="0"/>
          </a:p>
        </p:txBody>
      </p:sp>
      <p:sp>
        <p:nvSpPr>
          <p:cNvPr id="83" name="Shape 80"/>
          <p:cNvSpPr/>
          <p:nvPr/>
        </p:nvSpPr>
        <p:spPr>
          <a:xfrm>
            <a:off x="7671816" y="4334256"/>
            <a:ext cx="1609344" cy="484632"/>
          </a:xfrm>
          <a:prstGeom prst="rect">
            <a:avLst/>
          </a:prstGeom>
          <a:solidFill>
            <a:srgbClr val="F0EA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1"/>
          <p:cNvSpPr/>
          <p:nvPr/>
        </p:nvSpPr>
        <p:spPr>
          <a:xfrm>
            <a:off x="7744968" y="4334256"/>
            <a:ext cx="14996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fixed rate</a:t>
            </a:r>
            <a:endParaRPr lang="en-US" sz="1000" dirty="0"/>
          </a:p>
        </p:txBody>
      </p:sp>
      <p:sp>
        <p:nvSpPr>
          <p:cNvPr id="85" name="Shape 82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3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mithrah.me  |  +91 87 9245 9245  |  mithrah.me@gmail.com  |  www.mithrah.me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B5001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54864"/>
            <a:ext cx="105156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097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IDEAL BRANDS &amp; USE CASES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841248"/>
            <a:ext cx="2798064" cy="1920240"/>
          </a:xfrm>
          <a:prstGeom prst="rect">
            <a:avLst/>
          </a:prstGeom>
          <a:solidFill>
            <a:srgbClr val="FAE8E8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256032" y="841248"/>
            <a:ext cx="91440" cy="1920240"/>
          </a:xfrm>
          <a:prstGeom prst="rect">
            <a:avLst/>
          </a:prstGeom>
          <a:solidFill>
            <a:srgbClr val="B500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38912" y="960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🚗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38912" y="1444752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Automobile Brands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38912" y="1828800"/>
            <a:ext cx="2505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cars, SUVs, two-wheelers. Tata Motors has already leveraged PVR INOX lobbies to reach affluent, mobile-minded audiences at scale.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36976" y="841248"/>
            <a:ext cx="2798064" cy="1920240"/>
          </a:xfrm>
          <a:prstGeom prst="rect">
            <a:avLst/>
          </a:prstGeom>
          <a:solidFill>
            <a:srgbClr val="FBF3DC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236976" y="841248"/>
            <a:ext cx="91440" cy="192024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3419856" y="960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🏡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419856" y="1444752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Estate ,Housing &amp; Hospitals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419856" y="1828800"/>
            <a:ext cx="2505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projects and developers like Lodha have used cinema lobby screens to showcase properties to the high-income NCCS A1/A2 homebuyer.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17920" y="841248"/>
            <a:ext cx="2798064" cy="1920240"/>
          </a:xfrm>
          <a:prstGeom prst="rect">
            <a:avLst/>
          </a:prstGeom>
          <a:solidFill>
            <a:srgbClr val="E8EEF5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6217920" y="841248"/>
            <a:ext cx="91440" cy="1920240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400800" y="960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👗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400800" y="1444752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Fashion &amp; Retail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00800" y="1828800"/>
            <a:ext cx="2505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fashion brands like H&amp;M and UCB use PVR INOX lobbies to announce new collections, store launches, and brand campaigns to trend-forward audiences.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56032" y="2907792"/>
            <a:ext cx="2798064" cy="1920240"/>
          </a:xfrm>
          <a:prstGeom prst="rect">
            <a:avLst/>
          </a:prstGeom>
          <a:solidFill>
            <a:srgbClr val="F0EAF8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256032" y="2907792"/>
            <a:ext cx="91440" cy="1920240"/>
          </a:xfrm>
          <a:prstGeom prst="rect">
            <a:avLst/>
          </a:prstGeom>
          <a:solidFill>
            <a:srgbClr val="5B3A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438912" y="302666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🏦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438912" y="3511296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BFSI &amp; Fintech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38912" y="3895344"/>
            <a:ext cx="2505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Banks, insurance, UPI platforms, and wealth management brands seeking high-income, financially active consumers find their ideal audience at multiplex cinemas.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236976" y="2907792"/>
            <a:ext cx="2798064" cy="1920240"/>
          </a:xfrm>
          <a:prstGeom prst="rect">
            <a:avLst/>
          </a:prstGeom>
          <a:solidFill>
            <a:srgbClr val="E2F4F5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3236976" y="2907792"/>
            <a:ext cx="91440" cy="1920240"/>
          </a:xfrm>
          <a:prstGeom prst="rect">
            <a:avLst/>
          </a:prstGeom>
          <a:solidFill>
            <a:srgbClr val="1A7F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3419856" y="302666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🍹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3419856" y="3511296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F&amp;B &amp; FMCG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3419856" y="3895344"/>
            <a:ext cx="2505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Beverages like Frooti and FMCG brands benefit from the high F&amp;B spend context — capturing consumers in a purchasing mood inside the cinema.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217920" y="2907792"/>
            <a:ext cx="2798064" cy="1920240"/>
          </a:xfrm>
          <a:prstGeom prst="rect">
            <a:avLst/>
          </a:prstGeom>
          <a:solidFill>
            <a:srgbClr val="FAE8E8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6217920" y="2907792"/>
            <a:ext cx="91440" cy="1920240"/>
          </a:xfrm>
          <a:prstGeom prst="rect">
            <a:avLst/>
          </a:prstGeom>
          <a:solidFill>
            <a:srgbClr val="B500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6400800" y="302666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6400800" y="3511296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&amp; D2C Brands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00800" y="3895344"/>
            <a:ext cx="2505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Smartphones, OTT platforms, edtech, and D2C brands reach the 79% under-34 digital-native cinema audience — their most natural consumer base.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mithrah.me  |  +91 87 9245 9245  |  mithrah.me@gmail.com  |  www.mithrah.me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54864"/>
            <a:ext cx="105156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097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STUDIES — BRANDS THAT CHOSE PVR INOX LOBBIES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320040" y="7955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leading brands have already placed their campaigns in PVR INOX cinema lobbies — reaching 3.5 Lacs+ audience per location.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56032" y="1115568"/>
            <a:ext cx="2798064" cy="2542032"/>
          </a:xfrm>
          <a:prstGeom prst="rect">
            <a:avLst/>
          </a:prstGeom>
          <a:solidFill>
            <a:srgbClr val="FAE8E8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256032" y="1115568"/>
            <a:ext cx="2798064" cy="73152"/>
          </a:xfrm>
          <a:prstGeom prst="rect">
            <a:avLst/>
          </a:prstGeom>
          <a:solidFill>
            <a:srgbClr val="B500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420624" y="1280160"/>
            <a:ext cx="2468880" cy="512064"/>
          </a:xfrm>
          <a:prstGeom prst="rect">
            <a:avLst/>
          </a:prstGeom>
          <a:solidFill>
            <a:srgbClr val="B5001F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57200" y="1316736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500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🏢  LODHA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20624" y="1892808"/>
            <a:ext cx="24688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Segment: Real Estate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43" Cinema Lobby Screen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PVR INOX Multiplex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Footfall: 3.50 Lacs+ Audience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Lodha used PVR INOX lobby screens to showcase premium residential projects to the high-income multiplex audience — driving quality leads from India's top SEC class.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172968" y="1115568"/>
            <a:ext cx="2798064" cy="2542032"/>
          </a:xfrm>
          <a:prstGeom prst="rect">
            <a:avLst/>
          </a:prstGeom>
          <a:solidFill>
            <a:srgbClr val="FBF3DC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172968" y="1115568"/>
            <a:ext cx="2798064" cy="73152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3337560" y="1280160"/>
            <a:ext cx="2468880" cy="512064"/>
          </a:xfrm>
          <a:prstGeom prst="rect">
            <a:avLst/>
          </a:prstGeom>
          <a:solidFill>
            <a:srgbClr val="D4A017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3374136" y="1316736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0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👗  H &amp; M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337560" y="1892808"/>
            <a:ext cx="24688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Segment: Premium Fashion Retail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43" Cinema Lobby Screen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PVR INOX Multiplex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Footfall: 3.50 Lacs+ Audience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H&amp;M leveraged cinema lobby screens to announce new collections and store openings to style-conscious, brand-aware audiences before their movie experience.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089904" y="1115568"/>
            <a:ext cx="2798064" cy="2542032"/>
          </a:xfrm>
          <a:prstGeom prst="rect">
            <a:avLst/>
          </a:prstGeom>
          <a:solidFill>
            <a:srgbClr val="E8EEF5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6089904" y="1115568"/>
            <a:ext cx="2798064" cy="73152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6254496" y="1280160"/>
            <a:ext cx="2468880" cy="512064"/>
          </a:xfrm>
          <a:prstGeom prst="rect">
            <a:avLst/>
          </a:prstGeom>
          <a:solidFill>
            <a:srgbClr val="1C2B3A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291072" y="1316736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🚗  TATA MOTORS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254496" y="1892808"/>
            <a:ext cx="24688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Segment: Automobile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43" Cinema Lobby Screen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PVR INOX Multiplex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Footfall: 3.50 Lacs+ Audience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Motors used cinema lobby screens to put their latest vehicles in front of premium urban buyers in a high-aspiration environment — driving brand consideration.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256032" y="3785616"/>
            <a:ext cx="4315968" cy="859536"/>
          </a:xfrm>
          <a:prstGeom prst="rect">
            <a:avLst/>
          </a:prstGeom>
          <a:solidFill>
            <a:srgbClr val="F0EAF8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256032" y="3785616"/>
            <a:ext cx="4315968" cy="73152"/>
          </a:xfrm>
          <a:prstGeom prst="rect">
            <a:avLst/>
          </a:prstGeom>
          <a:solidFill>
            <a:srgbClr val="5B3A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402336" y="387705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3A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🧥  UCB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02336" y="427939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43" Cinema Lobby Screen  |  PVR INOX Multiplex  |  Footfall: 3.50 Lacs+ Audience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773168" y="3785616"/>
            <a:ext cx="4114800" cy="859536"/>
          </a:xfrm>
          <a:prstGeom prst="rect">
            <a:avLst/>
          </a:prstGeom>
          <a:solidFill>
            <a:srgbClr val="E2F4F5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4773168" y="3785616"/>
            <a:ext cx="4114800" cy="73152"/>
          </a:xfrm>
          <a:prstGeom prst="rect">
            <a:avLst/>
          </a:prstGeom>
          <a:solidFill>
            <a:srgbClr val="1A7F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4919472" y="3877056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🥤  FROOTI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919472" y="4279392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43" Cinema Lobby Screen  |  PVR INOX Multiplex  |  Footfall: 3.50 Lacs+ Audience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mithrah.me  |  +91 87 9245 9245  |  mithrah.me@gmail.com  |  www.mithrah.me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54864"/>
            <a:ext cx="105156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097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 — BOOK YOUR PVR INOX LOBBY CAMPAIGN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74320" y="859536"/>
            <a:ext cx="1572768" cy="3840480"/>
          </a:xfrm>
          <a:prstGeom prst="rect">
            <a:avLst/>
          </a:prstGeom>
          <a:solidFill>
            <a:srgbClr val="FAE8E8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274320" y="859536"/>
            <a:ext cx="1572768" cy="82296"/>
          </a:xfrm>
          <a:prstGeom prst="rect">
            <a:avLst/>
          </a:prstGeom>
          <a:solidFill>
            <a:srgbClr val="B500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804672" y="978408"/>
            <a:ext cx="512064" cy="512064"/>
          </a:xfrm>
          <a:prstGeom prst="ellipse">
            <a:avLst/>
          </a:prstGeom>
          <a:solidFill>
            <a:srgbClr val="B500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04672" y="978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65760" y="1627632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Brief &amp; City Selection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65760" y="2359152"/>
            <a:ext cx="14173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target cities, audience profile, campaign budget, and duration. Mithrah.Me maps the right PVR INOX properties for maximum impact.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847088" y="2560320"/>
            <a:ext cx="164592" cy="91440"/>
          </a:xfrm>
          <a:prstGeom prst="rect">
            <a:avLst/>
          </a:prstGeom>
          <a:solidFill>
            <a:srgbClr val="B500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2011680" y="859536"/>
            <a:ext cx="1572768" cy="3840480"/>
          </a:xfrm>
          <a:prstGeom prst="rect">
            <a:avLst/>
          </a:prstGeom>
          <a:solidFill>
            <a:srgbClr val="FBF3DC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2011680" y="859536"/>
            <a:ext cx="1572768" cy="82296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2542032" y="978408"/>
            <a:ext cx="512064" cy="512064"/>
          </a:xfrm>
          <a:prstGeom prst="ellipse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2542032" y="978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103120" y="1627632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Creative &amp; Content Design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2103120" y="2359152"/>
            <a:ext cx="14173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 creates a compelling 10-second lobby spot — or we optimise your existing creative — formatted for the 43" digital screens.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584448" y="2560320"/>
            <a:ext cx="164592" cy="91440"/>
          </a:xfrm>
          <a:prstGeom prst="rect">
            <a:avLst/>
          </a:prstGeom>
          <a:solidFill>
            <a:srgbClr val="B500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3749040" y="859536"/>
            <a:ext cx="1572768" cy="3840480"/>
          </a:xfrm>
          <a:prstGeom prst="rect">
            <a:avLst/>
          </a:prstGeom>
          <a:solidFill>
            <a:srgbClr val="E8EEF5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3749040" y="859536"/>
            <a:ext cx="1572768" cy="82296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4279392" y="978408"/>
            <a:ext cx="512064" cy="512064"/>
          </a:xfrm>
          <a:prstGeom prst="ellipse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4279392" y="978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3840480" y="1627632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Booking Confirmation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3840480" y="2359152"/>
            <a:ext cx="14173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slots are booked across chosen properties. You receive a confirmed schedule with property names, screen counts, and dates.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321808" y="2560320"/>
            <a:ext cx="164592" cy="91440"/>
          </a:xfrm>
          <a:prstGeom prst="rect">
            <a:avLst/>
          </a:prstGeom>
          <a:solidFill>
            <a:srgbClr val="B500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5486400" y="859536"/>
            <a:ext cx="1572768" cy="3840480"/>
          </a:xfrm>
          <a:prstGeom prst="rect">
            <a:avLst/>
          </a:prstGeom>
          <a:solidFill>
            <a:srgbClr val="F0EAF8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5486400" y="859536"/>
            <a:ext cx="1572768" cy="82296"/>
          </a:xfrm>
          <a:prstGeom prst="rect">
            <a:avLst/>
          </a:prstGeom>
          <a:solidFill>
            <a:srgbClr val="5B3A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6016752" y="978408"/>
            <a:ext cx="512064" cy="512064"/>
          </a:xfrm>
          <a:prstGeom prst="ellipse">
            <a:avLst/>
          </a:prstGeom>
          <a:solidFill>
            <a:srgbClr val="5B3A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6016752" y="978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5577840" y="1627632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Campaign Go-Live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577840" y="2359152"/>
            <a:ext cx="14173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ad begins playing in the 2-minute loop at selected lobbies. Each 10-second spot ensures consistent brand exposure all day.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7059168" y="2560320"/>
            <a:ext cx="164592" cy="91440"/>
          </a:xfrm>
          <a:prstGeom prst="rect">
            <a:avLst/>
          </a:prstGeom>
          <a:solidFill>
            <a:srgbClr val="B500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7223760" y="859536"/>
            <a:ext cx="1572768" cy="3840480"/>
          </a:xfrm>
          <a:prstGeom prst="rect">
            <a:avLst/>
          </a:prstGeom>
          <a:solidFill>
            <a:srgbClr val="E2F4F5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1"/>
          <p:cNvSpPr/>
          <p:nvPr/>
        </p:nvSpPr>
        <p:spPr>
          <a:xfrm>
            <a:off x="7223760" y="859536"/>
            <a:ext cx="1572768" cy="82296"/>
          </a:xfrm>
          <a:prstGeom prst="rect">
            <a:avLst/>
          </a:prstGeom>
          <a:solidFill>
            <a:srgbClr val="1A7F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2"/>
          <p:cNvSpPr/>
          <p:nvPr/>
        </p:nvSpPr>
        <p:spPr>
          <a:xfrm>
            <a:off x="7754112" y="978408"/>
            <a:ext cx="512064" cy="512064"/>
          </a:xfrm>
          <a:prstGeom prst="ellipse">
            <a:avLst/>
          </a:prstGeom>
          <a:solidFill>
            <a:srgbClr val="1A7F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7754112" y="978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7315200" y="1627632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Post-Campaign Report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7315200" y="2359152"/>
            <a:ext cx="14173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 detailed report with verified screen placements, audience reach data, property photos, and campaign performance metrics.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mithrah.me  |  +91 87 9245 9245  |  mithrah.me@gmail.com  |  www.mithrah.me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463040"/>
            <a:ext cx="7315200" cy="7315200"/>
          </a:xfrm>
          <a:prstGeom prst="ellipse">
            <a:avLst/>
          </a:prstGeom>
          <a:solidFill>
            <a:srgbClr val="2A0A0A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400800" y="457200"/>
            <a:ext cx="3840480" cy="3840480"/>
          </a:xfrm>
          <a:prstGeom prst="ellipse">
            <a:avLst/>
          </a:prstGeom>
          <a:solidFill>
            <a:srgbClr val="B5001F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303520" y="2651760"/>
            <a:ext cx="2011680" cy="2011680"/>
          </a:xfrm>
          <a:prstGeom prst="ellipse">
            <a:avLst/>
          </a:prstGeom>
          <a:solidFill>
            <a:srgbClr val="D4A017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82880"/>
            <a:ext cx="1353312" cy="6583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02336" y="1024128"/>
            <a:ext cx="6858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to Reach India's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402336" y="1609344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kern="0" spc="200" dirty="0">
                <a:solidFill>
                  <a:srgbClr val="D4A0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 CAPTIVE AUDIENCE?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402336" y="2450592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D4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Mithrah.Me place your brand inside PVR INOX lobbies — where 90 lac premium</a:t>
            </a:r>
            <a:endParaRPr lang="en-US" sz="1350" dirty="0"/>
          </a:p>
          <a:p>
            <a:pPr marL="0" indent="0">
              <a:buNone/>
            </a:pPr>
            <a:r>
              <a:rPr lang="en-US" sz="1350" i="1" dirty="0">
                <a:solidFill>
                  <a:srgbClr val="D4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viewers wait, watch, and remember, every single month.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02336" y="3246120"/>
            <a:ext cx="6035040" cy="1600200"/>
          </a:xfrm>
          <a:prstGeom prst="rect">
            <a:avLst/>
          </a:prstGeom>
          <a:solidFill>
            <a:srgbClr val="120606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02336" y="3246120"/>
            <a:ext cx="6035040" cy="82296"/>
          </a:xfrm>
          <a:prstGeom prst="rect">
            <a:avLst/>
          </a:prstGeom>
          <a:solidFill>
            <a:srgbClr val="B500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85216" y="340156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4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+91 87 9245 9245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602736" y="340156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4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mithrah.me@gmail.com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85216" y="399592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4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www.mithrah.me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602736" y="399592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4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94, 4th Main Chandra Layout, Bangalore – 560086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0" y="4700016"/>
            <a:ext cx="9144000" cy="438912"/>
          </a:xfrm>
          <a:prstGeom prst="rect">
            <a:avLst/>
          </a:prstGeom>
          <a:solidFill>
            <a:srgbClr val="1206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274320" y="472744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PVR INOX Lobby  •  LED Van  •  Drone Marketing  •  Transit Media  •  Digital Wall Printing  •  WhatsApp  •  OBD  •  SMS  |  Mithrah.Me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2113</Words>
  <Application>Microsoft Office PowerPoint</Application>
  <PresentationFormat>On-screen Show (16:9)</PresentationFormat>
  <Paragraphs>270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PVR INOX Lobby Marketing – Mithrah.Me</dc:title>
  <dc:subject>PptxGenJS Presentation</dc:subject>
  <dc:creator>PptxGenJS</dc:creator>
  <cp:lastModifiedBy>mysore ads</cp:lastModifiedBy>
  <cp:revision>2</cp:revision>
  <dcterms:created xsi:type="dcterms:W3CDTF">2026-03-07T18:20:30Z</dcterms:created>
  <dcterms:modified xsi:type="dcterms:W3CDTF">2026-03-07T18:23:01Z</dcterms:modified>
</cp:coreProperties>
</file>